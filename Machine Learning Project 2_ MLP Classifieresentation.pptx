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PT Sans Narrow"/>
      <p:regular r:id="rId14"/>
      <p:bold r:id="rId15"/>
    </p:embeddedFont>
    <p:embeddedFont>
      <p:font typeface="Open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PTSansNarrow-bold.fntdata"/><Relationship Id="rId14" Type="http://schemas.openxmlformats.org/officeDocument/2006/relationships/font" Target="fonts/PTSansNarrow-regular.fntdata"/><Relationship Id="rId17" Type="http://schemas.openxmlformats.org/officeDocument/2006/relationships/font" Target="fonts/OpenSans-bold.fntdata"/><Relationship Id="rId16" Type="http://schemas.openxmlformats.org/officeDocument/2006/relationships/font" Target="fonts/OpenSans-regular.fntdata"/><Relationship Id="rId5" Type="http://schemas.openxmlformats.org/officeDocument/2006/relationships/notesMaster" Target="notesMasters/notesMaster1.xml"/><Relationship Id="rId19" Type="http://schemas.openxmlformats.org/officeDocument/2006/relationships/font" Target="fonts/OpenSans-boldItalic.fntdata"/><Relationship Id="rId6" Type="http://schemas.openxmlformats.org/officeDocument/2006/relationships/slide" Target="slides/slide1.xml"/><Relationship Id="rId18" Type="http://schemas.openxmlformats.org/officeDocument/2006/relationships/font" Target="fonts/OpenSans-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1168ea757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1168ea75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we started with the Adult Census Income dataset. Because real-world data is rarely clean, we first replaced all “?” symbols with NaN values and used a mixed strategy of imputing the most common values for categorical columns like </a:t>
            </a:r>
            <a:r>
              <a:rPr i="1" lang="en">
                <a:solidFill>
                  <a:schemeClr val="dk1"/>
                </a:solidFill>
              </a:rPr>
              <a:t>workclass</a:t>
            </a:r>
            <a:r>
              <a:rPr lang="en">
                <a:solidFill>
                  <a:schemeClr val="dk1"/>
                </a:solidFill>
              </a:rPr>
              <a:t> and </a:t>
            </a:r>
            <a:r>
              <a:rPr i="1" lang="en">
                <a:solidFill>
                  <a:schemeClr val="dk1"/>
                </a:solidFill>
              </a:rPr>
              <a:t>native-country</a:t>
            </a:r>
            <a:r>
              <a:rPr lang="en">
                <a:solidFill>
                  <a:schemeClr val="dk1"/>
                </a:solidFill>
              </a:rPr>
              <a:t> while dropping other incomplete rows to maintain data integrity. Next, we applied one-hot encoding to transform categorical variables into numerical form, expanding the feature set to 98 columns — this was crucial since MLPs require purely numerical inputs. We verified that our training, test, and validation feature sets aligned perfectly, ensuring consistent column structures. We then performed a 70/30 train-test split, yielding 18,233 training samples and 7,815 testing samples, and standardized all features using StandardScaler so each variable had zero mean and unit variance. This scaling was key to preventing optimization bias and accelerating gradient convergence, giving us a stable foundation for model training.</a:t>
            </a:r>
            <a:endParaRPr sz="1050">
              <a:solidFill>
                <a:srgbClr val="0E0E0E"/>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1168ea75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1168ea75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050">
                <a:solidFill>
                  <a:srgbClr val="0E0E0E"/>
                </a:solidFill>
              </a:rPr>
              <a:t>For our model, we implemented the MLPClassifier from sklearn.neural_network and used GridSearchCV to systematically tune hyperparameters through 3-fold cross-validation. We tested architectures with one hidden layer of 100 neurons and two hidden layers of 50 neurons each, compared activation functions, adjusted the L2 regularization parameter (alpha) between 0.0001 and 0.01, and varied the learning rate. We used the Adam optimizer for its adaptive learning rate and momentum, training each configuration up to 1,000 iterations to guarantee convergence without premature stopping. The best-performing model, based on validation accuracy, used a single hidden layer of 100 neurons, ReLU activation, alpha = 0.01, and a learning rate of 0.001. Cross-validation ensured our results generalized well beyond a single dataset split, and we found that this configuration achieved an ideal balance between bias and variance. This approach showcased how parameter tuning and careful model validation are essential to optimizing performance while maintaining stability.</a:t>
            </a:r>
            <a:endParaRPr sz="1050">
              <a:solidFill>
                <a:srgbClr val="0E0E0E"/>
              </a:solidFill>
            </a:endParaRPr>
          </a:p>
          <a:p>
            <a:pPr indent="0" lvl="0" marL="0" rtl="0" algn="l">
              <a:spcBef>
                <a:spcPts val="120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a1168ea757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a1168ea757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050">
                <a:solidFill>
                  <a:srgbClr val="0E0E0E"/>
                </a:solidFill>
              </a:rPr>
              <a:t>Our final model achieved an overall test accuracy of 82.12%. Looking at the classification report, the model performed strongly on the ≤50K class with a precision of 0.87 and recall of 0.90, meaning it correctly identified most lower-income individuals. However, its performance on the &gt;50K class was weaker, with precision of 0.65 and recall of 0.56, showing difficulty capturing the minority class. This imbalance originates from the dataset’s structure, where most individuals earn below 50K, leading to slight bias in predictions. The confusion matrix confirms that the model favored the majority class, a common issue in unbalanced data. The weighted average precision, recall, and F1-score all remained around 0.82, indicating strong generalization with room for improvement. If we were to extend the project, we could use techniques like SMOTE oversampling or class-weight adjustments to better address the imbalance and improve minority class recall while maintaining interpretability and computational efficiency</a:t>
            </a:r>
            <a:endParaRPr sz="1050">
              <a:solidFill>
                <a:srgbClr val="0E0E0E"/>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1168ea757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1168ea757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1200"/>
              </a:spcAft>
              <a:buNone/>
            </a:pPr>
            <a:r>
              <a:rPr lang="en" sz="1050">
                <a:solidFill>
                  <a:srgbClr val="0E0E0E"/>
                </a:solidFill>
              </a:rPr>
              <a:t>So when we made our architecture, we focused on a single hidden layer provided enough complexity for any relationships between features and income and still avoiding the overfitting observed in deeper architectures. We initially tried a two-layer model of 50 neurons per layer, which slightly improved training accuracy but did not enhance test performance, so the single-layer model was the better choice. The ReLU activation function helped accelerate learning and prevented vanishing gradients, while L2 regularization (alpha = 0.01) controlled weight magnitudes to prevent overfitting. The Adam optimizer’s adaptive learning rates stabilized training across 1,000 iterations, and we monitored convergence to ensure smooth, non-divergent learning.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1168ea757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1168ea757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050">
                <a:solidFill>
                  <a:srgbClr val="0E0E0E"/>
                </a:solidFill>
              </a:rPr>
              <a:t>Because the dataset has sensitive info such as sex, race, and age, training predictive models on this data raises several ethical concerns. Neural networks can unintentionally reproduce societal biases present in historical data — for instance, predicting lower income levels for groups that were historically underpaid. Features like marital status or occupation can act as proxies for protected characteristics, amplifying discrimination even if explicit sensitive variables are removed.</a:t>
            </a:r>
            <a:endParaRPr sz="1050">
              <a:solidFill>
                <a:srgbClr val="0E0E0E"/>
              </a:solidFill>
            </a:endParaRPr>
          </a:p>
          <a:p>
            <a:pPr indent="0" lvl="0" marL="0" rtl="0" algn="l">
              <a:spcBef>
                <a:spcPts val="120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1168ea75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a1168ea75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1050">
                <a:solidFill>
                  <a:srgbClr val="0E0E0E"/>
                </a:solidFill>
              </a:rPr>
              <a:t>Because of these ethical concerns,,There are some strategies to use to stay fair and transparent. First, we state through our documentation and code comments of the model design and feature inclusion rationale so future users can see those potential bias sources. </a:t>
            </a:r>
            <a:r>
              <a:rPr lang="en" sz="1050">
                <a:solidFill>
                  <a:srgbClr val="0E0E0E"/>
                </a:solidFill>
              </a:rPr>
              <a:t>We could have occasionally audits of the model to detect and correct those disparities in prediction accuracy. If bias is detected, some retraining with balanced data or adjusting class weights would be necessary. W</a:t>
            </a:r>
            <a:r>
              <a:rPr lang="en" sz="1050">
                <a:solidFill>
                  <a:srgbClr val="0E0E0E"/>
                </a:solidFill>
              </a:rPr>
              <a:t>e advocate for a strong data governance policy to make sure the data is being used for the right context when without human oversight. </a:t>
            </a:r>
            <a:endParaRPr sz="1050">
              <a:solidFill>
                <a:srgbClr val="0E0E0E"/>
              </a:solidFill>
            </a:endParaRPr>
          </a:p>
          <a:p>
            <a:pPr indent="0" lvl="0" marL="0" rtl="0" algn="l">
              <a:spcBef>
                <a:spcPts val="120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1168ea757_2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a1168ea757_2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cap="flat" cmpd="sng" w="76200">
            <a:solidFill>
              <a:schemeClr val="lt2"/>
            </a:solidFill>
            <a:prstDash val="solid"/>
            <a:round/>
            <a:headEnd len="sm" w="sm" type="none"/>
            <a:tailEnd len="sm" w="sm" type="none"/>
          </a:ln>
        </p:spPr>
      </p:cxnSp>
      <p:cxnSp>
        <p:nvCxnSpPr>
          <p:cNvPr id="11" name="Google Shape;11;p2"/>
          <p:cNvCxnSpPr/>
          <p:nvPr/>
        </p:nvCxnSpPr>
        <p:spPr>
          <a:xfrm>
            <a:off x="1575035" y="3158252"/>
            <a:ext cx="562200" cy="0"/>
          </a:xfrm>
          <a:prstGeom prst="straightConnector1">
            <a:avLst/>
          </a:prstGeom>
          <a:noFill/>
          <a:ln cap="flat" cmpd="sng" w="76200">
            <a:solidFill>
              <a:schemeClr val="lt2"/>
            </a:solidFill>
            <a:prstDash val="solid"/>
            <a:round/>
            <a:headEnd len="sm" w="sm" type="none"/>
            <a:tailEnd len="sm" w="sm" type="none"/>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4" name="Google Shape;14;p2"/>
            <p:cNvCxnSpPr/>
            <p:nvPr/>
          </p:nvCxnSpPr>
          <p:spPr>
            <a:xfrm rot="10800000">
              <a:off x="1346429" y="1163700"/>
              <a:ext cx="6452100" cy="0"/>
            </a:xfrm>
            <a:prstGeom prst="straightConnector1">
              <a:avLst/>
            </a:prstGeom>
            <a:noFill/>
            <a:ln cap="flat" cmpd="sng" w="9525">
              <a:solidFill>
                <a:schemeClr val="accent3"/>
              </a:solidFill>
              <a:prstDash val="solid"/>
              <a:round/>
              <a:headEnd len="sm" w="sm" type="none"/>
              <a:tailEnd len="sm" w="sm" type="none"/>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cap="flat" cmpd="sng" w="76200">
              <a:solidFill>
                <a:schemeClr val="accent3"/>
              </a:solidFill>
              <a:prstDash val="solid"/>
              <a:round/>
              <a:headEnd len="sm" w="sm" type="none"/>
              <a:tailEnd len="sm" w="sm" type="none"/>
            </a:ln>
          </p:spPr>
        </p:cxnSp>
        <p:cxnSp>
          <p:nvCxnSpPr>
            <p:cNvPr id="17" name="Google Shape;17;p2"/>
            <p:cNvCxnSpPr/>
            <p:nvPr/>
          </p:nvCxnSpPr>
          <p:spPr>
            <a:xfrm>
              <a:off x="1346435" y="3969088"/>
              <a:ext cx="6452100" cy="0"/>
            </a:xfrm>
            <a:prstGeom prst="straightConnector1">
              <a:avLst/>
            </a:prstGeom>
            <a:noFill/>
            <a:ln cap="flat" cmpd="sng" w="9525">
              <a:solidFill>
                <a:schemeClr val="accent3"/>
              </a:solidFill>
              <a:prstDash val="solid"/>
              <a:round/>
              <a:headEnd len="sm" w="sm" type="none"/>
              <a:tailEnd len="sm" w="sm" type="none"/>
            </a:ln>
          </p:spPr>
        </p:cxnSp>
      </p:grpSp>
      <p:sp>
        <p:nvSpPr>
          <p:cNvPr id="18" name="Google Shape;18;p2"/>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19" name="Google Shape;19;p2"/>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p:txBody>
      </p:sp>
      <p:sp>
        <p:nvSpPr>
          <p:cNvPr id="20" name="Google Shape;20;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3"/>
          <p:cNvSpPr txBox="1"/>
          <p:nvPr>
            <p:ph type="title"/>
          </p:nvPr>
        </p:nvSpPr>
        <p:spPr>
          <a:xfrm>
            <a:off x="311700" y="814800"/>
            <a:ext cx="8571300" cy="9420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p:txBody>
      </p:sp>
      <p:sp>
        <p:nvSpPr>
          <p:cNvPr id="24" name="Google Shape;24;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5"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28" name="Google Shape;28;p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2" name="Google Shape;32;p5"/>
          <p:cNvSpPr txBox="1"/>
          <p:nvPr>
            <p:ph idx="1" type="body"/>
          </p:nvPr>
        </p:nvSpPr>
        <p:spPr>
          <a:xfrm>
            <a:off x="3117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5"/>
          <p:cNvSpPr txBox="1"/>
          <p:nvPr>
            <p:ph idx="2" type="body"/>
          </p:nvPr>
        </p:nvSpPr>
        <p:spPr>
          <a:xfrm>
            <a:off x="4832400" y="1266175"/>
            <a:ext cx="3999900" cy="33027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6"/>
          <p:cNvSpPr txBox="1"/>
          <p:nvPr>
            <p:ph type="title"/>
          </p:nvPr>
        </p:nvSpPr>
        <p:spPr>
          <a:xfrm>
            <a:off x="311700" y="445025"/>
            <a:ext cx="8520600" cy="707400"/>
          </a:xfrm>
          <a:prstGeom prst="rect">
            <a:avLst/>
          </a:prstGeom>
        </p:spPr>
        <p:txBody>
          <a:bodyPr anchorCtr="0" anchor="t" bIns="91425" lIns="91425" spcFirstLastPara="1" rIns="91425" wrap="square" tIns="91425">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p:txBody>
      </p:sp>
      <p:sp>
        <p:nvSpPr>
          <p:cNvPr id="37" name="Google Shape;3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0" name="Google Shape;4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1" name="Google Shape;4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6"/>
        </a:solidFill>
      </p:bgPr>
    </p:bg>
    <p:spTree>
      <p:nvGrpSpPr>
        <p:cNvPr id="42" name="Shape 42"/>
        <p:cNvGrpSpPr/>
        <p:nvPr/>
      </p:nvGrpSpPr>
      <p:grpSpPr>
        <a:xfrm>
          <a:off x="0" y="0"/>
          <a:ext cx="0" cy="0"/>
          <a:chOff x="0" y="0"/>
          <a:chExt cx="0" cy="0"/>
        </a:xfrm>
      </p:grpSpPr>
      <p:sp>
        <p:nvSpPr>
          <p:cNvPr id="43" name="Google Shape;43;p8"/>
          <p:cNvSpPr txBox="1"/>
          <p:nvPr>
            <p:ph type="title"/>
          </p:nvPr>
        </p:nvSpPr>
        <p:spPr>
          <a:xfrm>
            <a:off x="490250" y="526350"/>
            <a:ext cx="56136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dk2"/>
              </a:buClr>
              <a:buSzPts val="5400"/>
              <a:buNone/>
              <a:defRPr b="0" sz="5400">
                <a:solidFill>
                  <a:schemeClr val="dk2"/>
                </a:solidFill>
              </a:defRPr>
            </a:lvl1pPr>
            <a:lvl2pPr lvl="1">
              <a:spcBef>
                <a:spcPts val="0"/>
              </a:spcBef>
              <a:spcAft>
                <a:spcPts val="0"/>
              </a:spcAft>
              <a:buClr>
                <a:schemeClr val="dk2"/>
              </a:buClr>
              <a:buSzPts val="5400"/>
              <a:buNone/>
              <a:defRPr b="0" sz="5400">
                <a:solidFill>
                  <a:schemeClr val="dk2"/>
                </a:solidFill>
              </a:defRPr>
            </a:lvl2pPr>
            <a:lvl3pPr lvl="2">
              <a:spcBef>
                <a:spcPts val="0"/>
              </a:spcBef>
              <a:spcAft>
                <a:spcPts val="0"/>
              </a:spcAft>
              <a:buClr>
                <a:schemeClr val="dk2"/>
              </a:buClr>
              <a:buSzPts val="5400"/>
              <a:buNone/>
              <a:defRPr b="0" sz="5400">
                <a:solidFill>
                  <a:schemeClr val="dk2"/>
                </a:solidFill>
              </a:defRPr>
            </a:lvl3pPr>
            <a:lvl4pPr lvl="3">
              <a:spcBef>
                <a:spcPts val="0"/>
              </a:spcBef>
              <a:spcAft>
                <a:spcPts val="0"/>
              </a:spcAft>
              <a:buClr>
                <a:schemeClr val="dk2"/>
              </a:buClr>
              <a:buSzPts val="5400"/>
              <a:buNone/>
              <a:defRPr b="0" sz="5400">
                <a:solidFill>
                  <a:schemeClr val="dk2"/>
                </a:solidFill>
              </a:defRPr>
            </a:lvl4pPr>
            <a:lvl5pPr lvl="4">
              <a:spcBef>
                <a:spcPts val="0"/>
              </a:spcBef>
              <a:spcAft>
                <a:spcPts val="0"/>
              </a:spcAft>
              <a:buClr>
                <a:schemeClr val="dk2"/>
              </a:buClr>
              <a:buSzPts val="5400"/>
              <a:buNone/>
              <a:defRPr b="0" sz="5400">
                <a:solidFill>
                  <a:schemeClr val="dk2"/>
                </a:solidFill>
              </a:defRPr>
            </a:lvl5pPr>
            <a:lvl6pPr lvl="5">
              <a:spcBef>
                <a:spcPts val="0"/>
              </a:spcBef>
              <a:spcAft>
                <a:spcPts val="0"/>
              </a:spcAft>
              <a:buClr>
                <a:schemeClr val="dk2"/>
              </a:buClr>
              <a:buSzPts val="5400"/>
              <a:buNone/>
              <a:defRPr b="0" sz="5400">
                <a:solidFill>
                  <a:schemeClr val="dk2"/>
                </a:solidFill>
              </a:defRPr>
            </a:lvl6pPr>
            <a:lvl7pPr lvl="6">
              <a:spcBef>
                <a:spcPts val="0"/>
              </a:spcBef>
              <a:spcAft>
                <a:spcPts val="0"/>
              </a:spcAft>
              <a:buClr>
                <a:schemeClr val="dk2"/>
              </a:buClr>
              <a:buSzPts val="5400"/>
              <a:buNone/>
              <a:defRPr b="0" sz="5400">
                <a:solidFill>
                  <a:schemeClr val="dk2"/>
                </a:solidFill>
              </a:defRPr>
            </a:lvl7pPr>
            <a:lvl8pPr lvl="7">
              <a:spcBef>
                <a:spcPts val="0"/>
              </a:spcBef>
              <a:spcAft>
                <a:spcPts val="0"/>
              </a:spcAft>
              <a:buClr>
                <a:schemeClr val="dk2"/>
              </a:buClr>
              <a:buSzPts val="5400"/>
              <a:buNone/>
              <a:defRPr b="0" sz="5400">
                <a:solidFill>
                  <a:schemeClr val="dk2"/>
                </a:solidFill>
              </a:defRPr>
            </a:lvl8pPr>
            <a:lvl9pPr lvl="8">
              <a:spcBef>
                <a:spcPts val="0"/>
              </a:spcBef>
              <a:spcAft>
                <a:spcPts val="0"/>
              </a:spcAft>
              <a:buClr>
                <a:schemeClr val="dk2"/>
              </a:buClr>
              <a:buSzPts val="5400"/>
              <a:buNone/>
              <a:defRPr b="0" sz="5400">
                <a:solidFill>
                  <a:schemeClr val="dk2"/>
                </a:solidFill>
              </a:defRPr>
            </a:lvl9pPr>
          </a:lstStyle>
          <a:p/>
        </p:txBody>
      </p:sp>
      <p:sp>
        <p:nvSpPr>
          <p:cNvPr id="44" name="Google Shape;4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7" name="Google Shape;47;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8" name="Google Shape;48;p9"/>
          <p:cNvSpPr txBox="1"/>
          <p:nvPr>
            <p:ph type="title"/>
          </p:nvPr>
        </p:nvSpPr>
        <p:spPr>
          <a:xfrm>
            <a:off x="265500" y="1039675"/>
            <a:ext cx="4045200" cy="16758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9" name="Google Shape;49;p9"/>
          <p:cNvSpPr txBox="1"/>
          <p:nvPr>
            <p:ph idx="1" type="subTitle"/>
          </p:nvPr>
        </p:nvSpPr>
        <p:spPr>
          <a:xfrm>
            <a:off x="265500" y="27268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0" name="Google Shape;50;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1" name="Google Shape;51;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2" name="Shape 52"/>
        <p:cNvGrpSpPr/>
        <p:nvPr/>
      </p:nvGrpSpPr>
      <p:grpSpPr>
        <a:xfrm>
          <a:off x="0" y="0"/>
          <a:ext cx="0" cy="0"/>
          <a:chOff x="0" y="0"/>
          <a:chExt cx="0" cy="0"/>
        </a:xfrm>
      </p:grpSpPr>
      <p:sp>
        <p:nvSpPr>
          <p:cNvPr id="53" name="Google Shape;53;p10"/>
          <p:cNvSpPr txBox="1"/>
          <p:nvPr>
            <p:ph idx="1" type="body"/>
          </p:nvPr>
        </p:nvSpPr>
        <p:spPr>
          <a:xfrm>
            <a:off x="311700" y="42307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p:txBody>
      </p:sp>
      <p:sp>
        <p:nvSpPr>
          <p:cNvPr id="54" name="Google Shape;54;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5"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11"/>
          <p:cNvSpPr txBox="1"/>
          <p:nvPr>
            <p:ph hasCustomPrompt="1" type="title"/>
          </p:nvPr>
        </p:nvSpPr>
        <p:spPr>
          <a:xfrm>
            <a:off x="311700" y="1304850"/>
            <a:ext cx="85206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p:nvPr>
            <p:ph idx="1" type="body"/>
          </p:nvPr>
        </p:nvSpPr>
        <p:spPr>
          <a:xfrm>
            <a:off x="311700" y="2995650"/>
            <a:ext cx="85206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9" name="Google Shape;5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tropic">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707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b="1" sz="3600">
                <a:solidFill>
                  <a:schemeClr val="accent1"/>
                </a:solidFill>
                <a:latin typeface="PT Sans Narrow"/>
                <a:ea typeface="PT Sans Narrow"/>
                <a:cs typeface="PT Sans Narrow"/>
                <a:sym typeface="PT Sans Narrow"/>
              </a:defRPr>
            </a:lvl9pPr>
          </a:lstStyle>
          <a:p/>
        </p:txBody>
      </p:sp>
      <p:sp>
        <p:nvSpPr>
          <p:cNvPr id="7" name="Google Shape;7;p1"/>
          <p:cNvSpPr txBox="1"/>
          <p:nvPr>
            <p:ph idx="1" type="body"/>
          </p:nvPr>
        </p:nvSpPr>
        <p:spPr>
          <a:xfrm>
            <a:off x="311700" y="1266325"/>
            <a:ext cx="8520600" cy="33027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indent="-317500" lvl="1" marL="914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indent="-317500" lvl="2" marL="1371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indent="-317500" lvl="3" marL="1828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indent="-317500" lvl="4" marL="22860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indent="-317500" lvl="5" marL="27432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indent="-317500" lvl="6" marL="32004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indent="-317500" lvl="7" marL="36576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indent="-317500" lvl="8" marL="41148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3"/>
          <p:cNvSpPr txBox="1"/>
          <p:nvPr>
            <p:ph type="ctrTitle"/>
          </p:nvPr>
        </p:nvSpPr>
        <p:spPr>
          <a:xfrm>
            <a:off x="1004150" y="1284475"/>
            <a:ext cx="7136700" cy="14895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a:t>Machine Learning Project #2: MLP Classifier</a:t>
            </a:r>
            <a:endParaRPr/>
          </a:p>
        </p:txBody>
      </p:sp>
      <p:sp>
        <p:nvSpPr>
          <p:cNvPr id="67" name="Google Shape;67;p13"/>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a:t>Trevor Packan and Colin Partridge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4"/>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 1: Preprocessing the Dataset</a:t>
            </a:r>
            <a:endParaRPr/>
          </a:p>
        </p:txBody>
      </p:sp>
      <p:sp>
        <p:nvSpPr>
          <p:cNvPr id="73" name="Google Shape;73;p14"/>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Clr>
                <a:schemeClr val="dk1"/>
              </a:buClr>
              <a:buSzPct val="61111"/>
              <a:buFont typeface="Arial"/>
              <a:buNone/>
            </a:pPr>
            <a:r>
              <a:rPr lang="en"/>
              <a:t>Dataset: Adult Census Income (26,048 records, 15 features)</a:t>
            </a:r>
            <a:endParaRPr/>
          </a:p>
          <a:p>
            <a:pPr indent="0" lvl="0" marL="0" rtl="0" algn="l">
              <a:spcBef>
                <a:spcPts val="1200"/>
              </a:spcBef>
              <a:spcAft>
                <a:spcPts val="0"/>
              </a:spcAft>
              <a:buClr>
                <a:schemeClr val="dk1"/>
              </a:buClr>
              <a:buSzPct val="61111"/>
              <a:buFont typeface="Arial"/>
              <a:buNone/>
            </a:pPr>
            <a:r>
              <a:rPr lang="en"/>
              <a:t>Handle Missing Values:</a:t>
            </a:r>
            <a:endParaRPr/>
          </a:p>
          <a:p>
            <a:pPr indent="0" lvl="0" marL="0" rtl="0" algn="l">
              <a:spcBef>
                <a:spcPts val="1200"/>
              </a:spcBef>
              <a:spcAft>
                <a:spcPts val="0"/>
              </a:spcAft>
              <a:buClr>
                <a:schemeClr val="dk1"/>
              </a:buClr>
              <a:buSzPct val="61111"/>
              <a:buFont typeface="Arial"/>
              <a:buNone/>
            </a:pPr>
            <a:r>
              <a:rPr lang="en"/>
              <a:t>Replaced '?' with NaN</a:t>
            </a:r>
            <a:endParaRPr/>
          </a:p>
          <a:p>
            <a:pPr indent="0" lvl="0" marL="0" rtl="0" algn="l">
              <a:spcBef>
                <a:spcPts val="1200"/>
              </a:spcBef>
              <a:spcAft>
                <a:spcPts val="0"/>
              </a:spcAft>
              <a:buClr>
                <a:schemeClr val="dk1"/>
              </a:buClr>
              <a:buSzPct val="61111"/>
              <a:buFont typeface="Arial"/>
              <a:buNone/>
            </a:pPr>
            <a:r>
              <a:rPr lang="en"/>
              <a:t>Dropped rows with missing values</a:t>
            </a:r>
            <a:endParaRPr/>
          </a:p>
          <a:p>
            <a:pPr indent="0" lvl="0" marL="0" rtl="0" algn="l">
              <a:spcBef>
                <a:spcPts val="1200"/>
              </a:spcBef>
              <a:spcAft>
                <a:spcPts val="0"/>
              </a:spcAft>
              <a:buClr>
                <a:schemeClr val="dk1"/>
              </a:buClr>
              <a:buSzPct val="61111"/>
              <a:buFont typeface="Arial"/>
              <a:buNone/>
            </a:pPr>
            <a:r>
              <a:rPr lang="en"/>
              <a:t>One-Hot Encoding: Categorical variables → 98 features</a:t>
            </a:r>
            <a:endParaRPr/>
          </a:p>
          <a:p>
            <a:pPr indent="0" lvl="0" marL="0" rtl="0" algn="l">
              <a:spcBef>
                <a:spcPts val="1200"/>
              </a:spcBef>
              <a:spcAft>
                <a:spcPts val="0"/>
              </a:spcAft>
              <a:buClr>
                <a:schemeClr val="dk1"/>
              </a:buClr>
              <a:buSzPct val="61111"/>
              <a:buFont typeface="Arial"/>
              <a:buNone/>
            </a:pPr>
            <a:r>
              <a:rPr lang="en"/>
              <a:t>Train-Test Split: 70% train (18,233) / 30% test (7,815)</a:t>
            </a:r>
            <a:endParaRPr/>
          </a:p>
          <a:p>
            <a:pPr indent="0" lvl="0" marL="0" rtl="0" algn="l">
              <a:spcBef>
                <a:spcPts val="1200"/>
              </a:spcBef>
              <a:spcAft>
                <a:spcPts val="0"/>
              </a:spcAft>
              <a:buClr>
                <a:schemeClr val="dk1"/>
              </a:buClr>
              <a:buSzPct val="61111"/>
              <a:buFont typeface="Arial"/>
              <a:buNone/>
            </a:pPr>
            <a:r>
              <a:rPr lang="en"/>
              <a:t>Standardization: StandardScaler applied to all features</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5"/>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 2: Implementing Multi-Layer Perceptron (MLP)</a:t>
            </a:r>
            <a:endParaRPr/>
          </a:p>
        </p:txBody>
      </p:sp>
      <p:sp>
        <p:nvSpPr>
          <p:cNvPr id="79" name="Google Shape;79;p15"/>
          <p:cNvSpPr txBox="1"/>
          <p:nvPr>
            <p:ph idx="1" type="body"/>
          </p:nvPr>
        </p:nvSpPr>
        <p:spPr>
          <a:xfrm>
            <a:off x="3117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t>MLPClassifier from sklearn.neural_network</a:t>
            </a:r>
            <a:endParaRPr sz="1800"/>
          </a:p>
          <a:p>
            <a:pPr indent="0" lvl="0" marL="0" rtl="0" algn="l">
              <a:spcBef>
                <a:spcPts val="1200"/>
              </a:spcBef>
              <a:spcAft>
                <a:spcPts val="0"/>
              </a:spcAft>
              <a:buClr>
                <a:schemeClr val="dk1"/>
              </a:buClr>
              <a:buSzPts val="1100"/>
              <a:buFont typeface="Arial"/>
              <a:buNone/>
            </a:pPr>
            <a:r>
              <a:rPr lang="en" sz="1800"/>
              <a:t>Hyperparameter Tuning using GridSearchCV:</a:t>
            </a:r>
            <a:endParaRPr sz="1800"/>
          </a:p>
          <a:p>
            <a:pPr indent="0" lvl="0" marL="0" rtl="0" algn="l">
              <a:spcBef>
                <a:spcPts val="1200"/>
              </a:spcBef>
              <a:spcAft>
                <a:spcPts val="0"/>
              </a:spcAft>
              <a:buClr>
                <a:schemeClr val="dk1"/>
              </a:buClr>
              <a:buSzPts val="1100"/>
              <a:buFont typeface="Arial"/>
              <a:buNone/>
            </a:pPr>
            <a:r>
              <a:rPr lang="en" sz="1800"/>
              <a:t>Hidden layer sizes: (100,) and (50, 50)</a:t>
            </a:r>
            <a:endParaRPr sz="1800"/>
          </a:p>
          <a:p>
            <a:pPr indent="0" lvl="0" marL="0" rtl="0" algn="l">
              <a:spcBef>
                <a:spcPts val="1200"/>
              </a:spcBef>
              <a:spcAft>
                <a:spcPts val="0"/>
              </a:spcAft>
              <a:buClr>
                <a:schemeClr val="dk1"/>
              </a:buClr>
              <a:buSzPts val="1100"/>
              <a:buFont typeface="Arial"/>
              <a:buNone/>
            </a:pPr>
            <a:r>
              <a:rPr lang="en" sz="1800"/>
              <a:t>Activation: ReLU</a:t>
            </a:r>
            <a:endParaRPr sz="1800"/>
          </a:p>
          <a:p>
            <a:pPr indent="0" lvl="0" marL="0" rtl="0" algn="l">
              <a:spcBef>
                <a:spcPts val="1200"/>
              </a:spcBef>
              <a:spcAft>
                <a:spcPts val="0"/>
              </a:spcAft>
              <a:buClr>
                <a:schemeClr val="dk1"/>
              </a:buClr>
              <a:buSzPts val="1100"/>
              <a:buFont typeface="Arial"/>
              <a:buNone/>
            </a:pPr>
            <a:r>
              <a:rPr lang="en" sz="1800"/>
              <a:t>Solver: Adam optimizer</a:t>
            </a:r>
            <a:endParaRPr sz="1800"/>
          </a:p>
          <a:p>
            <a:pPr indent="0" lvl="0" marL="0" rtl="0" algn="l">
              <a:spcBef>
                <a:spcPts val="1200"/>
              </a:spcBef>
              <a:spcAft>
                <a:spcPts val="1200"/>
              </a:spcAft>
              <a:buNone/>
            </a:pPr>
            <a:r>
              <a:t/>
            </a:r>
            <a:endParaRPr sz="1800"/>
          </a:p>
        </p:txBody>
      </p:sp>
      <p:sp>
        <p:nvSpPr>
          <p:cNvPr id="80" name="Google Shape;80;p15"/>
          <p:cNvSpPr txBox="1"/>
          <p:nvPr>
            <p:ph idx="2" type="body"/>
          </p:nvPr>
        </p:nvSpPr>
        <p:spPr>
          <a:xfrm>
            <a:off x="4832400" y="1266175"/>
            <a:ext cx="3999900" cy="33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000"/>
              <a:t>Regularization (alpha): 0.0001 and 0.01</a:t>
            </a:r>
            <a:endParaRPr sz="2000"/>
          </a:p>
          <a:p>
            <a:pPr indent="0" lvl="0" marL="0" rtl="0" algn="l">
              <a:spcBef>
                <a:spcPts val="1200"/>
              </a:spcBef>
              <a:spcAft>
                <a:spcPts val="0"/>
              </a:spcAft>
              <a:buClr>
                <a:schemeClr val="dk1"/>
              </a:buClr>
              <a:buSzPts val="1100"/>
              <a:buFont typeface="Arial"/>
              <a:buNone/>
            </a:pPr>
            <a:r>
              <a:rPr lang="en" sz="2000"/>
              <a:t>Learning rate: 0.001</a:t>
            </a:r>
            <a:endParaRPr sz="2000"/>
          </a:p>
          <a:p>
            <a:pPr indent="0" lvl="0" marL="0" rtl="0" algn="l">
              <a:spcBef>
                <a:spcPts val="1200"/>
              </a:spcBef>
              <a:spcAft>
                <a:spcPts val="0"/>
              </a:spcAft>
              <a:buClr>
                <a:schemeClr val="dk1"/>
              </a:buClr>
              <a:buSzPts val="1100"/>
              <a:buFont typeface="Arial"/>
              <a:buNone/>
            </a:pPr>
            <a:r>
              <a:rPr lang="en" sz="2000"/>
              <a:t>Best Model Parameters:</a:t>
            </a:r>
            <a:endParaRPr sz="2000"/>
          </a:p>
          <a:p>
            <a:pPr indent="0" lvl="0" marL="0" rtl="0" algn="l">
              <a:spcBef>
                <a:spcPts val="1200"/>
              </a:spcBef>
              <a:spcAft>
                <a:spcPts val="0"/>
              </a:spcAft>
              <a:buClr>
                <a:schemeClr val="dk1"/>
              </a:buClr>
              <a:buSzPts val="1100"/>
              <a:buFont typeface="Arial"/>
              <a:buNone/>
            </a:pPr>
            <a:r>
              <a:rPr lang="en" sz="2000"/>
              <a:t>Hidden layers: (100,)</a:t>
            </a:r>
            <a:endParaRPr sz="2000"/>
          </a:p>
          <a:p>
            <a:pPr indent="0" lvl="0" marL="0" rtl="0" algn="l">
              <a:spcBef>
                <a:spcPts val="1200"/>
              </a:spcBef>
              <a:spcAft>
                <a:spcPts val="0"/>
              </a:spcAft>
              <a:buClr>
                <a:schemeClr val="dk1"/>
              </a:buClr>
              <a:buSzPts val="1100"/>
              <a:buFont typeface="Arial"/>
              <a:buNone/>
            </a:pPr>
            <a:r>
              <a:rPr lang="en" sz="2000"/>
              <a:t>Alpha: 0.01</a:t>
            </a:r>
            <a:endParaRPr sz="2000"/>
          </a:p>
          <a:p>
            <a:pPr indent="0" lvl="0" marL="0" rtl="0" algn="l">
              <a:spcBef>
                <a:spcPts val="1200"/>
              </a:spcBef>
              <a:spcAft>
                <a:spcPts val="0"/>
              </a:spcAft>
              <a:buClr>
                <a:schemeClr val="dk1"/>
              </a:buClr>
              <a:buSzPts val="1100"/>
              <a:buFont typeface="Arial"/>
              <a:buNone/>
            </a:pPr>
            <a:r>
              <a:rPr lang="en" sz="2000"/>
              <a:t>Max iterations: 1000</a:t>
            </a:r>
            <a:endParaRPr sz="2000"/>
          </a:p>
          <a:p>
            <a:pPr indent="0" lvl="0" marL="0" rtl="0" algn="l">
              <a:spcBef>
                <a:spcPts val="1200"/>
              </a:spcBef>
              <a:spcAft>
                <a:spcPts val="1200"/>
              </a:spcAft>
              <a:buNone/>
            </a:pPr>
            <a:r>
              <a:t/>
            </a:r>
            <a:endParaRPr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Part 3: Model Performance and Results</a:t>
            </a:r>
            <a:endParaRPr/>
          </a:p>
        </p:txBody>
      </p:sp>
      <p:sp>
        <p:nvSpPr>
          <p:cNvPr id="86" name="Google Shape;86;p16"/>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Clr>
                <a:schemeClr val="dk1"/>
              </a:buClr>
              <a:buSzPct val="61111"/>
              <a:buFont typeface="Arial"/>
              <a:buNone/>
            </a:pPr>
            <a:r>
              <a:rPr lang="en"/>
              <a:t>Test Accuracy: 82.12%</a:t>
            </a:r>
            <a:endParaRPr/>
          </a:p>
          <a:p>
            <a:pPr indent="0" lvl="0" marL="0" rtl="0" algn="l">
              <a:spcBef>
                <a:spcPts val="1200"/>
              </a:spcBef>
              <a:spcAft>
                <a:spcPts val="0"/>
              </a:spcAft>
              <a:buClr>
                <a:schemeClr val="dk1"/>
              </a:buClr>
              <a:buSzPct val="61111"/>
              <a:buFont typeface="Arial"/>
              <a:buNone/>
            </a:pPr>
            <a:r>
              <a:rPr lang="en"/>
              <a:t>Classification Report:</a:t>
            </a:r>
            <a:endParaRPr/>
          </a:p>
          <a:p>
            <a:pPr indent="0" lvl="0" marL="0" rtl="0" algn="l">
              <a:spcBef>
                <a:spcPts val="1200"/>
              </a:spcBef>
              <a:spcAft>
                <a:spcPts val="0"/>
              </a:spcAft>
              <a:buClr>
                <a:schemeClr val="dk1"/>
              </a:buClr>
              <a:buSzPct val="61111"/>
              <a:buFont typeface="Arial"/>
              <a:buNone/>
            </a:pPr>
            <a:r>
              <a:rPr lang="en"/>
              <a:t>    ≤50K: Precision=0.87, Recall=0.90, F1=0.88 (5,934 samples)</a:t>
            </a:r>
            <a:endParaRPr/>
          </a:p>
          <a:p>
            <a:pPr indent="0" lvl="0" marL="0" rtl="0" algn="l">
              <a:spcBef>
                <a:spcPts val="1200"/>
              </a:spcBef>
              <a:spcAft>
                <a:spcPts val="0"/>
              </a:spcAft>
              <a:buClr>
                <a:schemeClr val="dk1"/>
              </a:buClr>
              <a:buSzPct val="61111"/>
              <a:buFont typeface="Arial"/>
              <a:buNone/>
            </a:pPr>
            <a:r>
              <a:rPr lang="en"/>
              <a:t>    &gt;50K: Precision=0.65, Recall=0.56, F1=0.60 (1,881 samples)</a:t>
            </a:r>
            <a:endParaRPr/>
          </a:p>
          <a:p>
            <a:pPr indent="0" lvl="0" marL="0" rtl="0" algn="l">
              <a:spcBef>
                <a:spcPts val="1200"/>
              </a:spcBef>
              <a:spcAft>
                <a:spcPts val="0"/>
              </a:spcAft>
              <a:buClr>
                <a:schemeClr val="dk1"/>
              </a:buClr>
              <a:buSzPct val="61111"/>
              <a:buFont typeface="Arial"/>
              <a:buNone/>
            </a:pPr>
            <a:r>
              <a:rPr lang="en"/>
              <a:t>Weighted Averages:</a:t>
            </a:r>
            <a:endParaRPr/>
          </a:p>
          <a:p>
            <a:pPr indent="0" lvl="0" marL="0" rtl="0" algn="l">
              <a:spcBef>
                <a:spcPts val="1200"/>
              </a:spcBef>
              <a:spcAft>
                <a:spcPts val="0"/>
              </a:spcAft>
              <a:buClr>
                <a:schemeClr val="dk1"/>
              </a:buClr>
              <a:buSzPct val="61111"/>
              <a:buFont typeface="Arial"/>
              <a:buNone/>
            </a:pPr>
            <a:r>
              <a:rPr lang="en"/>
              <a:t>    Precision: 0.81 | Recall: 0.82 | F1-Score: 0.82</a:t>
            </a:r>
            <a:endParaRPr/>
          </a:p>
          <a:p>
            <a:pPr indent="0" lvl="0" marL="0" rtl="0" algn="l">
              <a:spcBef>
                <a:spcPts val="1200"/>
              </a:spcBef>
              <a:spcAft>
                <a:spcPts val="0"/>
              </a:spcAft>
              <a:buClr>
                <a:schemeClr val="dk1"/>
              </a:buClr>
              <a:buSzPct val="61111"/>
              <a:buFont typeface="Arial"/>
              <a:buNone/>
            </a:pPr>
            <a:r>
              <a:rPr lang="en"/>
              <a:t>Confusion Matrix:</a:t>
            </a:r>
            <a:endParaRPr/>
          </a:p>
          <a:p>
            <a:pPr indent="0" lvl="0" marL="0" rtl="0" algn="l">
              <a:spcBef>
                <a:spcPts val="1200"/>
              </a:spcBef>
              <a:spcAft>
                <a:spcPts val="0"/>
              </a:spcAft>
              <a:buClr>
                <a:schemeClr val="dk1"/>
              </a:buClr>
              <a:buSzPct val="61111"/>
              <a:buFont typeface="Arial"/>
              <a:buNone/>
            </a:pPr>
            <a:r>
              <a:rPr lang="en"/>
              <a:t>    Strong performance on majority class (≤50K)</a:t>
            </a:r>
            <a:endParaRPr/>
          </a:p>
          <a:p>
            <a:pPr indent="0" lvl="0" marL="0" rtl="0" algn="l">
              <a:spcBef>
                <a:spcPts val="1200"/>
              </a:spcBef>
              <a:spcAft>
                <a:spcPts val="0"/>
              </a:spcAft>
              <a:buClr>
                <a:schemeClr val="dk1"/>
              </a:buClr>
              <a:buSzPct val="61111"/>
              <a:buFont typeface="Arial"/>
              <a:buNone/>
            </a:pPr>
            <a:r>
              <a:rPr lang="en"/>
              <a:t>    Lower recall for minority class (&gt;50K)</a:t>
            </a:r>
            <a:endParaRPr/>
          </a:p>
          <a:p>
            <a:pPr indent="0" lvl="0" marL="0" rtl="0" algn="l">
              <a:spcBef>
                <a:spcPts val="1200"/>
              </a:spcBef>
              <a:spcAft>
                <a:spcPts val="0"/>
              </a:spcAft>
              <a:buClr>
                <a:schemeClr val="dk1"/>
              </a:buClr>
              <a:buSzPct val="61111"/>
              <a:buFont typeface="Arial"/>
              <a:buNone/>
            </a:pPr>
            <a:r>
              <a:rPr lang="en"/>
              <a:t>    Model shows slight bias toward majority class</a:t>
            </a:r>
            <a:endParaRPr/>
          </a:p>
          <a:p>
            <a:pPr indent="0" lvl="0" marL="0" rtl="0" algn="l">
              <a:spcBef>
                <a:spcPts val="1200"/>
              </a:spcBef>
              <a:spcAft>
                <a:spcPts val="1200"/>
              </a:spcAft>
              <a:buNone/>
            </a:pPr>
            <a:r>
              <a:t/>
            </a:r>
            <a:endParaRPr/>
          </a:p>
        </p:txBody>
      </p:sp>
      <p:pic>
        <p:nvPicPr>
          <p:cNvPr id="87" name="Google Shape;87;p16"/>
          <p:cNvPicPr preferRelativeResize="0"/>
          <p:nvPr/>
        </p:nvPicPr>
        <p:blipFill>
          <a:blip r:embed="rId3">
            <a:alphaModFix/>
          </a:blip>
          <a:stretch>
            <a:fillRect/>
          </a:stretch>
        </p:blipFill>
        <p:spPr>
          <a:xfrm>
            <a:off x="4639776" y="1266325"/>
            <a:ext cx="3735799" cy="302814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 Architecture Choice</a:t>
            </a:r>
            <a:endParaRPr/>
          </a:p>
        </p:txBody>
      </p:sp>
      <p:sp>
        <p:nvSpPr>
          <p:cNvPr id="93" name="Google Shape;93;p17"/>
          <p:cNvSpPr txBox="1"/>
          <p:nvPr>
            <p:ph idx="1" type="body"/>
          </p:nvPr>
        </p:nvSpPr>
        <p:spPr>
          <a:xfrm>
            <a:off x="311700" y="1266325"/>
            <a:ext cx="8520600" cy="33027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en"/>
              <a:t>Why this architecture?</a:t>
            </a:r>
            <a:endParaRPr/>
          </a:p>
          <a:p>
            <a:pPr indent="0" lvl="0" marL="0" rtl="0" algn="l">
              <a:spcBef>
                <a:spcPts val="1200"/>
              </a:spcBef>
              <a:spcAft>
                <a:spcPts val="0"/>
              </a:spcAft>
              <a:buClr>
                <a:schemeClr val="dk1"/>
              </a:buClr>
              <a:buSzPct val="61111"/>
              <a:buFont typeface="Arial"/>
              <a:buNone/>
            </a:pPr>
            <a:r>
              <a:rPr lang="en"/>
              <a:t>Simplicity &amp; Interpretability: Easy to explain results for census income data</a:t>
            </a:r>
            <a:endParaRPr/>
          </a:p>
          <a:p>
            <a:pPr indent="0" lvl="0" marL="0" rtl="0" algn="l">
              <a:spcBef>
                <a:spcPts val="1200"/>
              </a:spcBef>
              <a:spcAft>
                <a:spcPts val="0"/>
              </a:spcAft>
              <a:buClr>
                <a:schemeClr val="dk1"/>
              </a:buClr>
              <a:buSzPct val="61111"/>
              <a:buFont typeface="Arial"/>
              <a:buNone/>
            </a:pPr>
            <a:r>
              <a:rPr lang="en"/>
              <a:t>ReLU Activation: Faster training, reduces vanishing gradient problem</a:t>
            </a:r>
            <a:endParaRPr/>
          </a:p>
          <a:p>
            <a:pPr indent="0" lvl="0" marL="0" rtl="0" algn="l">
              <a:spcBef>
                <a:spcPts val="1200"/>
              </a:spcBef>
              <a:spcAft>
                <a:spcPts val="0"/>
              </a:spcAft>
              <a:buClr>
                <a:schemeClr val="dk1"/>
              </a:buClr>
              <a:buSzPct val="61111"/>
              <a:buFont typeface="Arial"/>
              <a:buNone/>
            </a:pPr>
            <a:r>
              <a:rPr lang="en"/>
              <a:t>Hidden Layer Balance: 100 neurons provides enough capacity to capture patterns without overfitting</a:t>
            </a:r>
            <a:endParaRPr/>
          </a:p>
          <a:p>
            <a:pPr indent="0" lvl="0" marL="0" rtl="0" algn="l">
              <a:spcBef>
                <a:spcPts val="1200"/>
              </a:spcBef>
              <a:spcAft>
                <a:spcPts val="0"/>
              </a:spcAft>
              <a:buClr>
                <a:schemeClr val="dk1"/>
              </a:buClr>
              <a:buSzPct val="61111"/>
              <a:buFont typeface="Arial"/>
              <a:buNone/>
            </a:pPr>
            <a:r>
              <a:rPr lang="en"/>
              <a:t>Optimal for Tabular Data: Structure suited for structured/census data</a:t>
            </a:r>
            <a:endParaRPr/>
          </a:p>
          <a:p>
            <a:pPr indent="0" lvl="0" marL="0" rtl="0" algn="l">
              <a:spcBef>
                <a:spcPts val="1200"/>
              </a:spcBef>
              <a:spcAft>
                <a:spcPts val="0"/>
              </a:spcAft>
              <a:buClr>
                <a:schemeClr val="dk1"/>
              </a:buClr>
              <a:buSzPct val="61111"/>
              <a:buFont typeface="Arial"/>
              <a:buNone/>
            </a:pPr>
            <a:r>
              <a:rPr lang="en"/>
              <a:t>Regularization: Alpha parameter prevents overfitting</a:t>
            </a:r>
            <a:endParaRPr/>
          </a:p>
          <a:p>
            <a:pPr indent="0" lvl="0" marL="0" rtl="0" algn="l">
              <a:spcBef>
                <a:spcPts val="1200"/>
              </a:spcBef>
              <a:spcAft>
                <a:spcPts val="0"/>
              </a:spcAft>
              <a:buClr>
                <a:schemeClr val="dk1"/>
              </a:buClr>
              <a:buSzPct val="61111"/>
              <a:buFont typeface="Arial"/>
              <a:buNone/>
            </a:pPr>
            <a:r>
              <a:rPr lang="en"/>
              <a:t>Adam Optimizer: Adaptive learning rates for efficient training</a:t>
            </a:r>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8"/>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 Ethical Considerations</a:t>
            </a:r>
            <a:endParaRPr/>
          </a:p>
        </p:txBody>
      </p:sp>
      <p:sp>
        <p:nvSpPr>
          <p:cNvPr id="99" name="Google Shape;99;p18"/>
          <p:cNvSpPr txBox="1"/>
          <p:nvPr>
            <p:ph idx="1" type="body"/>
          </p:nvPr>
        </p:nvSpPr>
        <p:spPr>
          <a:xfrm>
            <a:off x="311700" y="1266325"/>
            <a:ext cx="8520600" cy="3302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lang="en"/>
              <a:t>Key Concerns:</a:t>
            </a:r>
            <a:endParaRPr/>
          </a:p>
          <a:p>
            <a:pPr indent="0" lvl="0" marL="0" rtl="0" algn="l">
              <a:spcBef>
                <a:spcPts val="1200"/>
              </a:spcBef>
              <a:spcAft>
                <a:spcPts val="0"/>
              </a:spcAft>
              <a:buClr>
                <a:schemeClr val="dk1"/>
              </a:buClr>
              <a:buSzPts val="1100"/>
              <a:buFont typeface="Arial"/>
              <a:buNone/>
            </a:pPr>
            <a:r>
              <a:rPr lang="en"/>
              <a:t>Bias &amp; Fairness: Dataset contains sensitive features (sex, race, age) - risk of reproducing societal biases in employment/financial decisions</a:t>
            </a:r>
            <a:endParaRPr/>
          </a:p>
          <a:p>
            <a:pPr indent="0" lvl="0" marL="0" rtl="0" algn="l">
              <a:spcBef>
                <a:spcPts val="1200"/>
              </a:spcBef>
              <a:spcAft>
                <a:spcPts val="0"/>
              </a:spcAft>
              <a:buClr>
                <a:schemeClr val="dk1"/>
              </a:buClr>
              <a:buSzPts val="1100"/>
              <a:buFont typeface="Arial"/>
              <a:buNone/>
            </a:pPr>
            <a:r>
              <a:rPr lang="en"/>
              <a:t>Privacy: Predictions based on personal demographic data could violate privacy if deployed beyond intended use</a:t>
            </a:r>
            <a:endParaRPr/>
          </a:p>
          <a:p>
            <a:pPr indent="0" lvl="0" marL="0" rtl="0" algn="l">
              <a:spcBef>
                <a:spcPts val="1200"/>
              </a:spcBef>
              <a:spcAft>
                <a:spcPts val="0"/>
              </a:spcAft>
              <a:buClr>
                <a:schemeClr val="dk1"/>
              </a:buClr>
              <a:buSzPts val="1100"/>
              <a:buFont typeface="Arial"/>
              <a:buNone/>
            </a:pPr>
            <a:r>
              <a:rPr lang="en"/>
              <a:t>Transparency: Model decisions must be explainable to users</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9"/>
          <p:cNvSpPr txBox="1"/>
          <p:nvPr>
            <p:ph type="title"/>
          </p:nvPr>
        </p:nvSpPr>
        <p:spPr>
          <a:xfrm>
            <a:off x="311700" y="445025"/>
            <a:ext cx="8520600" cy="707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Reflection: Ethical Concerns</a:t>
            </a:r>
            <a:endParaRPr/>
          </a:p>
        </p:txBody>
      </p:sp>
      <p:sp>
        <p:nvSpPr>
          <p:cNvPr id="105" name="Google Shape;105;p19"/>
          <p:cNvSpPr txBox="1"/>
          <p:nvPr>
            <p:ph idx="1" type="body"/>
          </p:nvPr>
        </p:nvSpPr>
        <p:spPr>
          <a:xfrm>
            <a:off x="311700" y="1266325"/>
            <a:ext cx="8520600" cy="330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Mitigation Strategies:</a:t>
            </a:r>
            <a:endParaRPr/>
          </a:p>
          <a:p>
            <a:pPr indent="0" lvl="0" marL="0" rtl="0" algn="l">
              <a:spcBef>
                <a:spcPts val="1200"/>
              </a:spcBef>
              <a:spcAft>
                <a:spcPts val="0"/>
              </a:spcAft>
              <a:buClr>
                <a:schemeClr val="dk1"/>
              </a:buClr>
              <a:buSzPts val="1100"/>
              <a:buFont typeface="Arial"/>
              <a:buNone/>
            </a:pPr>
            <a:r>
              <a:rPr lang="en"/>
              <a:t>Document model design and variable inclusion clearly</a:t>
            </a:r>
            <a:endParaRPr/>
          </a:p>
          <a:p>
            <a:pPr indent="0" lvl="0" marL="0" rtl="0" algn="l">
              <a:spcBef>
                <a:spcPts val="1200"/>
              </a:spcBef>
              <a:spcAft>
                <a:spcPts val="0"/>
              </a:spcAft>
              <a:buClr>
                <a:schemeClr val="dk1"/>
              </a:buClr>
              <a:buSzPts val="1100"/>
              <a:buFont typeface="Arial"/>
              <a:buNone/>
            </a:pPr>
            <a:r>
              <a:rPr lang="en"/>
              <a:t>Audit predictions by demographic subgroups for bias</a:t>
            </a:r>
            <a:endParaRPr/>
          </a:p>
          <a:p>
            <a:pPr indent="0" lvl="0" marL="0" rtl="0" algn="l">
              <a:spcBef>
                <a:spcPts val="1200"/>
              </a:spcBef>
              <a:spcAft>
                <a:spcPts val="0"/>
              </a:spcAft>
              <a:buClr>
                <a:schemeClr val="dk1"/>
              </a:buClr>
              <a:buSzPts val="1100"/>
              <a:buFont typeface="Arial"/>
              <a:buNone/>
            </a:pPr>
            <a:r>
              <a:rPr lang="en"/>
              <a:t>Build strong data governance policies</a:t>
            </a:r>
            <a:endParaRPr/>
          </a:p>
          <a:p>
            <a:pPr indent="0" lvl="0" marL="0" rtl="0" algn="l">
              <a:spcBef>
                <a:spcPts val="1200"/>
              </a:spcBef>
              <a:spcAft>
                <a:spcPts val="1200"/>
              </a:spcAft>
              <a:buClr>
                <a:schemeClr val="dk1"/>
              </a:buClr>
              <a:buSzPts val="1100"/>
              <a:buFont typeface="Arial"/>
              <a:buNone/>
            </a:pPr>
            <a:r>
              <a:rPr lang="en"/>
              <a:t>Ensure transparency in deployment contexts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0"/>
          <p:cNvSpPr txBox="1"/>
          <p:nvPr>
            <p:ph type="ctrTitle"/>
          </p:nvPr>
        </p:nvSpPr>
        <p:spPr>
          <a:xfrm>
            <a:off x="1004150" y="1751764"/>
            <a:ext cx="7136700" cy="10224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Thank you</a:t>
            </a:r>
            <a:endParaRPr/>
          </a:p>
        </p:txBody>
      </p:sp>
      <p:sp>
        <p:nvSpPr>
          <p:cNvPr id="111" name="Google Shape;111;p20"/>
          <p:cNvSpPr txBox="1"/>
          <p:nvPr>
            <p:ph idx="1" type="subTitle"/>
          </p:nvPr>
        </p:nvSpPr>
        <p:spPr>
          <a:xfrm>
            <a:off x="2137225" y="2850039"/>
            <a:ext cx="48705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